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5" r:id="rId7"/>
    <p:sldId id="260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5F0257-E63B-4509-B1F3-81EDA152AA84}" type="doc">
      <dgm:prSet loTypeId="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2EDA65-8E5F-4EBA-AF7C-CB542660CD9E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Business Problem</a:t>
          </a:r>
          <a:r>
            <a:rPr lang="en-US"/>
            <a:t/>
          </a:r>
          <a:endParaRPr lang="en-US"/>
        </a:p>
      </dgm:t>
    </dgm:pt>
    <dgm:pt modelId="{CBCD2E49-1A96-4855-8978-6CD02EE73598}" cxnId="{84A1F7FC-F64E-42F1-9FE4-E9A6B280CA24}" type="parTrans">
      <dgm:prSet/>
      <dgm:spPr/>
      <dgm:t>
        <a:bodyPr/>
        <a:lstStyle/>
        <a:p>
          <a:endParaRPr lang="en-US"/>
        </a:p>
      </dgm:t>
    </dgm:pt>
    <dgm:pt modelId="{61AC4714-F2B8-4473-AD73-307B0F676973}" cxnId="{84A1F7FC-F64E-42F1-9FE4-E9A6B280CA24}" type="sibTrans">
      <dgm:prSet/>
      <dgm:spPr/>
      <dgm:t>
        <a:bodyPr/>
        <a:lstStyle/>
        <a:p>
          <a:endParaRPr lang="en-US"/>
        </a:p>
      </dgm:t>
    </dgm:pt>
    <dgm:pt modelId="{30E5A965-9766-4027-8903-41A989E43EC9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dirty="0"/>
            <a:t>Whether Event Venue already has a wheelchair ramp installed?</a:t>
          </a:r>
          <a:r>
            <a:rPr lang="en-US" dirty="0"/>
            <a:t/>
          </a:r>
          <a:endParaRPr lang="en-US" dirty="0"/>
        </a:p>
      </dgm:t>
    </dgm:pt>
    <dgm:pt modelId="{CABBB3E7-B53B-4293-AB8F-53D61C2AA4AA}" cxnId="{0E1B82FD-1B2D-4191-9712-0CC6857533E1}" type="parTrans">
      <dgm:prSet/>
      <dgm:spPr/>
      <dgm:t>
        <a:bodyPr/>
        <a:lstStyle/>
        <a:p>
          <a:endParaRPr lang="en-US"/>
        </a:p>
      </dgm:t>
    </dgm:pt>
    <dgm:pt modelId="{327CF07F-55BD-483B-8B4B-BC11630CC56F}" cxnId="{0E1B82FD-1B2D-4191-9712-0CC6857533E1}" type="sibTrans">
      <dgm:prSet/>
      <dgm:spPr/>
      <dgm:t>
        <a:bodyPr/>
        <a:lstStyle/>
        <a:p>
          <a:endParaRPr lang="en-US"/>
        </a:p>
      </dgm:t>
    </dgm:pt>
    <dgm:pt modelId="{45A6BD4B-CA5B-45A4-9A18-DB47FFCE1E7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Study and Find at least two-thirds of venues predicted to be without a ramp should not have a ramp.</a:t>
          </a:r>
          <a:r>
            <a:rPr lang="en-US"/>
            <a:t/>
          </a:r>
          <a:endParaRPr lang="en-US"/>
        </a:p>
      </dgm:t>
    </dgm:pt>
    <dgm:pt modelId="{6F47E576-27FF-4FAF-BA06-FD0B13977BB9}" cxnId="{614EEE83-7A30-420C-A60D-DF510C766B86}" type="parTrans">
      <dgm:prSet/>
      <dgm:spPr/>
    </dgm:pt>
    <dgm:pt modelId="{673FC8A8-09BD-4840-BF92-EB878586456F}" cxnId="{614EEE83-7A30-420C-A60D-DF510C766B86}" type="sibTrans">
      <dgm:prSet/>
      <dgm:spPr/>
    </dgm:pt>
    <dgm:pt modelId="{52450895-FAF0-49DB-AFB6-67EA290F971C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Work Plan</a:t>
          </a:r>
          <a:r>
            <a:rPr/>
            <a:t/>
          </a:r>
          <a:endParaRPr/>
        </a:p>
      </dgm:t>
    </dgm:pt>
    <dgm:pt modelId="{1B7E3D72-6934-445E-868A-6670B9826611}" cxnId="{4710D7BF-318C-4950-A212-513C72A6F411}" type="parTrans">
      <dgm:prSet/>
      <dgm:spPr/>
      <dgm:t>
        <a:bodyPr/>
        <a:lstStyle/>
        <a:p>
          <a:endParaRPr lang="en-US"/>
        </a:p>
      </dgm:t>
    </dgm:pt>
    <dgm:pt modelId="{A8D05BDF-C103-4A10-A780-A44CD122E4B2}" cxnId="{4710D7BF-318C-4950-A212-513C72A6F411}" type="sibTrans">
      <dgm:prSet/>
      <dgm:spPr/>
      <dgm:t>
        <a:bodyPr/>
        <a:lstStyle/>
        <a:p>
          <a:endParaRPr lang="en-US"/>
        </a:p>
      </dgm:t>
    </dgm:pt>
    <dgm:pt modelId="{B3F6BC69-5364-4D49-9708-3C72E371E2F6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Analyse the relationship within data and important characterstics for result.</a:t>
          </a:r>
          <a:endParaRPr lang="en-US"/>
        </a:p>
      </dgm:t>
    </dgm:pt>
    <dgm:pt modelId="{CAF1A89D-9BB9-4981-9227-C242CA654DFE}" cxnId="{E6A27FED-3D64-4BA6-8DF0-4F03CBA5B2DF}" type="parTrans">
      <dgm:prSet/>
      <dgm:spPr/>
      <dgm:t>
        <a:bodyPr/>
        <a:lstStyle/>
        <a:p>
          <a:endParaRPr lang="en-US"/>
        </a:p>
      </dgm:t>
    </dgm:pt>
    <dgm:pt modelId="{6BC81578-75E7-4592-81A7-90228504F793}" cxnId="{E6A27FED-3D64-4BA6-8DF0-4F03CBA5B2DF}" type="sibTrans">
      <dgm:prSet/>
      <dgm:spPr/>
      <dgm:t>
        <a:bodyPr/>
        <a:lstStyle/>
        <a:p>
          <a:endParaRPr lang="en-US"/>
        </a:p>
      </dgm:t>
    </dgm:pt>
    <dgm:pt modelId="{60AE4AEB-A1A2-4720-AEB2-0C744525395D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Build to predict whether an event venue has a wheelchair ramp.</a:t>
          </a:r>
          <a:endParaRPr lang="en-US"/>
        </a:p>
      </dgm:t>
    </dgm:pt>
    <dgm:pt modelId="{98ED387B-48A6-472B-BB8B-19CCF6BF378E}" cxnId="{082330AA-6E5F-49E0-BF1D-29C1F919EE53}" type="parTrans">
      <dgm:prSet/>
      <dgm:spPr/>
    </dgm:pt>
    <dgm:pt modelId="{B7606B2D-1DE3-487C-AC97-A083E0002485}" cxnId="{082330AA-6E5F-49E0-BF1D-29C1F919EE53}" type="sibTrans">
      <dgm:prSet/>
      <dgm:spPr/>
    </dgm:pt>
    <dgm:pt modelId="{A4CC5D1A-B620-4E2B-AA27-776093DCC2B6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Assess the prediction of the Venues’s characterstics.</a:t>
          </a:r>
          <a:endParaRPr lang="en-US"/>
        </a:p>
      </dgm:t>
    </dgm:pt>
    <dgm:pt modelId="{29FB646B-01B8-4EF6-9FB1-70D22B6401A1}" cxnId="{0AB30E91-CD14-44DE-BB8B-080E2B41A958}" type="parTrans">
      <dgm:prSet/>
      <dgm:spPr/>
    </dgm:pt>
    <dgm:pt modelId="{EA353845-F7DC-4359-804F-BFE8C2FB7870}" cxnId="{0AB30E91-CD14-44DE-BB8B-080E2B41A958}" type="sibTrans">
      <dgm:prSet/>
      <dgm:spPr/>
    </dgm:pt>
    <dgm:pt modelId="{F07DCD36-A459-4775-A60B-857764DF2743}" type="pres">
      <dgm:prSet presAssocID="{835F0257-E63B-4509-B1F3-81EDA152AA84}" presName="linear" presStyleCnt="0">
        <dgm:presLayoutVars>
          <dgm:dir/>
          <dgm:animLvl val="lvl"/>
          <dgm:resizeHandles val="exact"/>
        </dgm:presLayoutVars>
      </dgm:prSet>
      <dgm:spPr/>
    </dgm:pt>
    <dgm:pt modelId="{A70B3D57-51A4-432E-81C1-232DD4F62E52}" type="pres">
      <dgm:prSet presAssocID="{F22EDA65-8E5F-4EBA-AF7C-CB542660CD9E}" presName="parentLin" presStyleCnt="0"/>
      <dgm:spPr/>
    </dgm:pt>
    <dgm:pt modelId="{64C362FF-EFDF-4B7E-A850-0D2CF80FE8EE}" type="pres">
      <dgm:prSet presAssocID="{F22EDA65-8E5F-4EBA-AF7C-CB542660CD9E}" presName="parentLeftMargin" presStyleCnt="0"/>
      <dgm:spPr/>
    </dgm:pt>
    <dgm:pt modelId="{6FF917E3-4418-494A-AB98-E680263E62B6}" type="pres">
      <dgm:prSet presAssocID="{F22EDA65-8E5F-4EBA-AF7C-CB542660CD9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798FF4F-C97D-4297-93FA-194CBE09F702}" type="pres">
      <dgm:prSet presAssocID="{F22EDA65-8E5F-4EBA-AF7C-CB542660CD9E}" presName="negativeSpace" presStyleCnt="0"/>
      <dgm:spPr/>
    </dgm:pt>
    <dgm:pt modelId="{E8FA1AD1-E924-4777-9518-0FB441108432}" type="pres">
      <dgm:prSet presAssocID="{F22EDA65-8E5F-4EBA-AF7C-CB542660CD9E}" presName="childText" presStyleLbl="conFgAcc1" presStyleIdx="0" presStyleCnt="2">
        <dgm:presLayoutVars>
          <dgm:bulletEnabled val="1"/>
        </dgm:presLayoutVars>
      </dgm:prSet>
      <dgm:spPr/>
    </dgm:pt>
    <dgm:pt modelId="{182375EB-25E8-4079-B289-9617CDB2BAC8}" type="pres">
      <dgm:prSet presAssocID="{61AC4714-F2B8-4473-AD73-307B0F676973}" presName="spaceBetweenRectangles" presStyleCnt="0"/>
      <dgm:spPr/>
    </dgm:pt>
    <dgm:pt modelId="{D79600BB-4A6C-41E4-B40A-8D59B31B0FC2}" type="pres">
      <dgm:prSet presAssocID="{52450895-FAF0-49DB-AFB6-67EA290F971C}" presName="parentLin" presStyleCnt="0"/>
      <dgm:spPr/>
    </dgm:pt>
    <dgm:pt modelId="{FDD9DC2D-6E05-410D-9AF7-9C86CE1C3518}" type="pres">
      <dgm:prSet presAssocID="{52450895-FAF0-49DB-AFB6-67EA290F971C}" presName="parentLeftMargin" presStyleCnt="0"/>
      <dgm:spPr/>
    </dgm:pt>
    <dgm:pt modelId="{82AD062D-2D89-4BBE-AC99-C37C38F881A9}" type="pres">
      <dgm:prSet presAssocID="{52450895-FAF0-49DB-AFB6-67EA290F971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CC58205-243B-4C34-B28F-015943EB10A3}" type="pres">
      <dgm:prSet presAssocID="{52450895-FAF0-49DB-AFB6-67EA290F971C}" presName="negativeSpace" presStyleCnt="0"/>
      <dgm:spPr/>
    </dgm:pt>
    <dgm:pt modelId="{31B8EB0D-316A-425F-BFA6-6F33D5E93912}" type="pres">
      <dgm:prSet presAssocID="{52450895-FAF0-49DB-AFB6-67EA290F971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4A1F7FC-F64E-42F1-9FE4-E9A6B280CA24}" srcId="{835F0257-E63B-4509-B1F3-81EDA152AA84}" destId="{F22EDA65-8E5F-4EBA-AF7C-CB542660CD9E}" srcOrd="0" destOrd="0" parTransId="{CBCD2E49-1A96-4855-8978-6CD02EE73598}" sibTransId="{61AC4714-F2B8-4473-AD73-307B0F676973}"/>
    <dgm:cxn modelId="{0E1B82FD-1B2D-4191-9712-0CC6857533E1}" srcId="{F22EDA65-8E5F-4EBA-AF7C-CB542660CD9E}" destId="{30E5A965-9766-4027-8903-41A989E43EC9}" srcOrd="0" destOrd="0" parTransId="{CABBB3E7-B53B-4293-AB8F-53D61C2AA4AA}" sibTransId="{327CF07F-55BD-483B-8B4B-BC11630CC56F}"/>
    <dgm:cxn modelId="{614EEE83-7A30-420C-A60D-DF510C766B86}" srcId="{F22EDA65-8E5F-4EBA-AF7C-CB542660CD9E}" destId="{45A6BD4B-CA5B-45A4-9A18-DB47FFCE1E7E}" srcOrd="1" destOrd="0" parTransId="{6F47E576-27FF-4FAF-BA06-FD0B13977BB9}" sibTransId="{673FC8A8-09BD-4840-BF92-EB878586456F}"/>
    <dgm:cxn modelId="{4710D7BF-318C-4950-A212-513C72A6F411}" srcId="{835F0257-E63B-4509-B1F3-81EDA152AA84}" destId="{52450895-FAF0-49DB-AFB6-67EA290F971C}" srcOrd="1" destOrd="0" parTransId="{1B7E3D72-6934-445E-868A-6670B9826611}" sibTransId="{A8D05BDF-C103-4A10-A780-A44CD122E4B2}"/>
    <dgm:cxn modelId="{E6A27FED-3D64-4BA6-8DF0-4F03CBA5B2DF}" srcId="{52450895-FAF0-49DB-AFB6-67EA290F971C}" destId="{B3F6BC69-5364-4D49-9708-3C72E371E2F6}" srcOrd="0" destOrd="1" parTransId="{CAF1A89D-9BB9-4981-9227-C242CA654DFE}" sibTransId="{6BC81578-75E7-4592-81A7-90228504F793}"/>
    <dgm:cxn modelId="{082330AA-6E5F-49E0-BF1D-29C1F919EE53}" srcId="{52450895-FAF0-49DB-AFB6-67EA290F971C}" destId="{60AE4AEB-A1A2-4720-AEB2-0C744525395D}" srcOrd="1" destOrd="1" parTransId="{98ED387B-48A6-472B-BB8B-19CCF6BF378E}" sibTransId="{B7606B2D-1DE3-487C-AC97-A083E0002485}"/>
    <dgm:cxn modelId="{0AB30E91-CD14-44DE-BB8B-080E2B41A958}" srcId="{52450895-FAF0-49DB-AFB6-67EA290F971C}" destId="{A4CC5D1A-B620-4E2B-AA27-776093DCC2B6}" srcOrd="2" destOrd="1" parTransId="{29FB646B-01B8-4EF6-9FB1-70D22B6401A1}" sibTransId="{EA353845-F7DC-4359-804F-BFE8C2FB7870}"/>
    <dgm:cxn modelId="{255F4F05-2401-4D09-A233-65CF350C0035}" type="presOf" srcId="{835F0257-E63B-4509-B1F3-81EDA152AA84}" destId="{F07DCD36-A459-4775-A60B-857764DF2743}" srcOrd="0" destOrd="0" presId="urn:microsoft.com/office/officeart/2005/8/layout/list1"/>
    <dgm:cxn modelId="{0ACCF6C2-A6B7-4B61-AE39-E376B60E98D5}" type="presParOf" srcId="{F07DCD36-A459-4775-A60B-857764DF2743}" destId="{A70B3D57-51A4-432E-81C1-232DD4F62E52}" srcOrd="0" destOrd="0" presId="urn:microsoft.com/office/officeart/2005/8/layout/list1"/>
    <dgm:cxn modelId="{4E63671F-7E0E-47D6-AE31-D6420E72D662}" type="presParOf" srcId="{A70B3D57-51A4-432E-81C1-232DD4F62E52}" destId="{64C362FF-EFDF-4B7E-A850-0D2CF80FE8EE}" srcOrd="0" destOrd="0" presId="urn:microsoft.com/office/officeart/2005/8/layout/list1"/>
    <dgm:cxn modelId="{F464DB4F-3D3E-4973-8932-85D69B8440AD}" type="presOf" srcId="{F22EDA65-8E5F-4EBA-AF7C-CB542660CD9E}" destId="{64C362FF-EFDF-4B7E-A850-0D2CF80FE8EE}" srcOrd="0" destOrd="0" presId="urn:microsoft.com/office/officeart/2005/8/layout/list1"/>
    <dgm:cxn modelId="{191DBDE8-F6F9-4D4A-AB89-5C3ED3AF5DA3}" type="presParOf" srcId="{A70B3D57-51A4-432E-81C1-232DD4F62E52}" destId="{6FF917E3-4418-494A-AB98-E680263E62B6}" srcOrd="1" destOrd="0" presId="urn:microsoft.com/office/officeart/2005/8/layout/list1"/>
    <dgm:cxn modelId="{7055E878-AECF-4F06-AE7D-BB6F64C1CA80}" type="presOf" srcId="{F22EDA65-8E5F-4EBA-AF7C-CB542660CD9E}" destId="{6FF917E3-4418-494A-AB98-E680263E62B6}" srcOrd="0" destOrd="0" presId="urn:microsoft.com/office/officeart/2005/8/layout/list1"/>
    <dgm:cxn modelId="{CA963569-08BE-40CE-9EEA-5492234FA711}" type="presParOf" srcId="{F07DCD36-A459-4775-A60B-857764DF2743}" destId="{C798FF4F-C97D-4297-93FA-194CBE09F702}" srcOrd="1" destOrd="0" presId="urn:microsoft.com/office/officeart/2005/8/layout/list1"/>
    <dgm:cxn modelId="{71C1988D-7C55-4BD6-80FE-26C066987727}" type="presParOf" srcId="{F07DCD36-A459-4775-A60B-857764DF2743}" destId="{E8FA1AD1-E924-4777-9518-0FB441108432}" srcOrd="2" destOrd="0" presId="urn:microsoft.com/office/officeart/2005/8/layout/list1"/>
    <dgm:cxn modelId="{7A600D5A-0C8B-444B-9F52-8E97ED72C2A9}" type="presOf" srcId="{30E5A965-9766-4027-8903-41A989E43EC9}" destId="{E8FA1AD1-E924-4777-9518-0FB441108432}" srcOrd="0" destOrd="0" presId="urn:microsoft.com/office/officeart/2005/8/layout/list1"/>
    <dgm:cxn modelId="{11186535-D3A5-4FC9-A0EA-3303FD9F9FA8}" type="presOf" srcId="{45A6BD4B-CA5B-45A4-9A18-DB47FFCE1E7E}" destId="{E8FA1AD1-E924-4777-9518-0FB441108432}" srcOrd="0" destOrd="1" presId="urn:microsoft.com/office/officeart/2005/8/layout/list1"/>
    <dgm:cxn modelId="{A12158BB-3CF7-4073-9E81-971D06A41A85}" type="presParOf" srcId="{F07DCD36-A459-4775-A60B-857764DF2743}" destId="{182375EB-25E8-4079-B289-9617CDB2BAC8}" srcOrd="3" destOrd="0" presId="urn:microsoft.com/office/officeart/2005/8/layout/list1"/>
    <dgm:cxn modelId="{4111E6E8-C3A2-4564-87B1-1024FDE28251}" type="presParOf" srcId="{F07DCD36-A459-4775-A60B-857764DF2743}" destId="{D79600BB-4A6C-41E4-B40A-8D59B31B0FC2}" srcOrd="4" destOrd="0" presId="urn:microsoft.com/office/officeart/2005/8/layout/list1"/>
    <dgm:cxn modelId="{F5F20518-957C-4651-9EDF-4CC3BDBD202B}" type="presParOf" srcId="{D79600BB-4A6C-41E4-B40A-8D59B31B0FC2}" destId="{FDD9DC2D-6E05-410D-9AF7-9C86CE1C3518}" srcOrd="0" destOrd="4" presId="urn:microsoft.com/office/officeart/2005/8/layout/list1"/>
    <dgm:cxn modelId="{8C0946D5-9414-4A5F-9DF0-BA9B5E504CE9}" type="presOf" srcId="{52450895-FAF0-49DB-AFB6-67EA290F971C}" destId="{FDD9DC2D-6E05-410D-9AF7-9C86CE1C3518}" srcOrd="0" destOrd="0" presId="urn:microsoft.com/office/officeart/2005/8/layout/list1"/>
    <dgm:cxn modelId="{674734BB-7621-49A7-8748-C7D2B3576391}" type="presParOf" srcId="{D79600BB-4A6C-41E4-B40A-8D59B31B0FC2}" destId="{82AD062D-2D89-4BBE-AC99-C37C38F881A9}" srcOrd="1" destOrd="4" presId="urn:microsoft.com/office/officeart/2005/8/layout/list1"/>
    <dgm:cxn modelId="{2B7CA54A-1C66-48F2-80F6-594339E1B93C}" type="presOf" srcId="{52450895-FAF0-49DB-AFB6-67EA290F971C}" destId="{82AD062D-2D89-4BBE-AC99-C37C38F881A9}" srcOrd="0" destOrd="0" presId="urn:microsoft.com/office/officeart/2005/8/layout/list1"/>
    <dgm:cxn modelId="{C0B1FBC4-F591-42AC-AECA-F2A432B431A8}" type="presParOf" srcId="{F07DCD36-A459-4775-A60B-857764DF2743}" destId="{8CC58205-243B-4C34-B28F-015943EB10A3}" srcOrd="5" destOrd="0" presId="urn:microsoft.com/office/officeart/2005/8/layout/list1"/>
    <dgm:cxn modelId="{05E24948-5CF6-40D2-B812-308AE2363E73}" type="presParOf" srcId="{F07DCD36-A459-4775-A60B-857764DF2743}" destId="{31B8EB0D-316A-425F-BFA6-6F33D5E93912}" srcOrd="6" destOrd="0" presId="urn:microsoft.com/office/officeart/2005/8/layout/list1"/>
    <dgm:cxn modelId="{B2D92545-EF43-4816-8249-463CF6DFA3BE}" type="presOf" srcId="{B3F6BC69-5364-4D49-9708-3C72E371E2F6}" destId="{31B8EB0D-316A-425F-BFA6-6F33D5E93912}" srcOrd="0" destOrd="0" presId="urn:microsoft.com/office/officeart/2005/8/layout/list1"/>
    <dgm:cxn modelId="{A976CD90-2902-4CA1-9951-57782DCFDE52}" type="presOf" srcId="{60AE4AEB-A1A2-4720-AEB2-0C744525395D}" destId="{31B8EB0D-316A-425F-BFA6-6F33D5E93912}" srcOrd="0" destOrd="1" presId="urn:microsoft.com/office/officeart/2005/8/layout/list1"/>
    <dgm:cxn modelId="{057C821A-76F9-45E6-92E0-DA1B77A0EDC7}" type="presOf" srcId="{A4CC5D1A-B620-4E2B-AA27-776093DCC2B6}" destId="{31B8EB0D-316A-425F-BFA6-6F33D5E93912}" srcOrd="0" destOrd="2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C320EB-5352-40AA-A0A9-C13066E1373C}" type="doc">
      <dgm:prSet loTypeId="list" loCatId="list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773C5012-55F9-436E-B78B-2A38D8AAA0C0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Work Impact</a:t>
          </a:r>
          <a:r>
            <a:rPr lang="en-US"/>
            <a:t/>
          </a:r>
          <a:endParaRPr lang="en-US"/>
        </a:p>
      </dgm:t>
    </dgm:pt>
    <dgm:pt modelId="{E1399106-9BE2-43F4-9430-F473CB36780F}" cxnId="{2F7F756B-684B-4FBF-97C7-A9C2CFB2A1F9}" type="parTrans">
      <dgm:prSet/>
      <dgm:spPr/>
      <dgm:t>
        <a:bodyPr/>
        <a:p>
          <a:endParaRPr lang="en-US"/>
        </a:p>
      </dgm:t>
    </dgm:pt>
    <dgm:pt modelId="{507A6FE3-4D55-4ED6-A973-429D64C5DF28}" cxnId="{2F7F756B-684B-4FBF-97C7-A9C2CFB2A1F9}" type="sibTrans">
      <dgm:prSet/>
      <dgm:spPr/>
      <dgm:t>
        <a:bodyPr/>
        <a:p>
          <a:endParaRPr lang="en-US"/>
        </a:p>
      </dgm:t>
    </dgm:pt>
    <dgm:pt modelId="{90570EAD-4D4E-4BB2-A767-B943D2E4A45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dirty="0">
              <a:sym typeface="+mn-ea"/>
            </a:rPr>
            <a:t>Explored the characterstics of venues that impact the predictive model.</a:t>
          </a:r>
          <a:r>
            <a:rPr lang="en-US"/>
            <a:t/>
          </a:r>
          <a:endParaRPr lang="en-US"/>
        </a:p>
      </dgm:t>
    </dgm:pt>
    <dgm:pt modelId="{E93F2EFF-A124-46E9-B969-18A0113D6504}" cxnId="{3B58F019-BA4B-4792-A0B9-4BF263FC2540}" type="parTrans">
      <dgm:prSet/>
      <dgm:spPr/>
    </dgm:pt>
    <dgm:pt modelId="{707F1FAB-053A-4B60-89D6-2DC452CC0C65}" cxnId="{3B58F019-BA4B-4792-A0B9-4BF263FC2540}" type="sibTrans">
      <dgm:prSet/>
      <dgm:spPr/>
    </dgm:pt>
    <dgm:pt modelId="{830390C9-036C-4EB0-80AE-198F03667E02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Built a predictive model to know </a:t>
          </a:r>
          <a:r>
            <a:rPr lang="en-US">
              <a:sym typeface="+mn-ea"/>
            </a:rPr>
            <a:t>whether an event venue has a wheelchair ramp.</a:t>
          </a:r>
          <a:r>
            <a:rPr lang="en-US">
              <a:sym typeface="+mn-ea"/>
            </a:rPr>
            <a:t/>
          </a:r>
          <a:endParaRPr lang="en-US">
            <a:sym typeface="+mn-ea"/>
          </a:endParaRPr>
        </a:p>
      </dgm:t>
    </dgm:pt>
    <dgm:pt modelId="{AF0571A6-EA2B-4229-991E-8BB0BE94A699}" cxnId="{09D06CBE-59D8-4E5B-A5D0-CA0DFB28677B}" type="parTrans">
      <dgm:prSet/>
      <dgm:spPr/>
    </dgm:pt>
    <dgm:pt modelId="{0E46ADF8-E570-49A0-A622-2A87144CF91F}" cxnId="{09D06CBE-59D8-4E5B-A5D0-CA0DFB28677B}" type="sibTrans">
      <dgm:prSet/>
      <dgm:spPr/>
    </dgm:pt>
    <dgm:pt modelId="{A19C850E-E8D3-4A57-B20D-AB9EF6CF89F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Found that </a:t>
          </a:r>
          <a:r>
            <a:rPr lang="en-US"/>
            <a:t>at least two-thirds of venues predicted to be without a ramp should not have a ramp.</a:t>
          </a:r>
          <a:r>
            <a:rPr lang="en-US"/>
            <a:t/>
          </a:r>
          <a:endParaRPr lang="en-US"/>
        </a:p>
      </dgm:t>
    </dgm:pt>
    <dgm:pt modelId="{D32EE8F5-9EDE-4F11-88C8-AC4489A0BF02}" cxnId="{06DD2400-4C4A-4B08-BCDC-1D79D65C4F75}" type="parTrans">
      <dgm:prSet/>
      <dgm:spPr/>
    </dgm:pt>
    <dgm:pt modelId="{1F38ED43-8A73-48FD-80C7-58B1A4FD59E0}" cxnId="{06DD2400-4C4A-4B08-BCDC-1D79D65C4F75}" type="sibTrans">
      <dgm:prSet/>
      <dgm:spPr/>
    </dgm:pt>
    <dgm:pt modelId="{CA58FE74-4619-4E47-BA6C-E0CD35AF5AC2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Recommendations</a:t>
          </a:r>
          <a:r>
            <a:rPr lang="en-US"/>
            <a:t/>
          </a:r>
          <a:endParaRPr lang="en-US"/>
        </a:p>
      </dgm:t>
    </dgm:pt>
    <dgm:pt modelId="{EBAD4DA7-135F-4F4E-9475-804E7DC205D2}" cxnId="{406D170E-ACCA-4FA4-A68B-E6793B9DCDEB}" type="parTrans">
      <dgm:prSet/>
      <dgm:spPr/>
      <dgm:t>
        <a:bodyPr/>
        <a:p>
          <a:endParaRPr lang="en-US"/>
        </a:p>
      </dgm:t>
    </dgm:pt>
    <dgm:pt modelId="{5723A07A-E737-45B0-B84E-97FB4DE86580}" cxnId="{406D170E-ACCA-4FA4-A68B-E6793B9DCDEB}" type="sibTrans">
      <dgm:prSet/>
      <dgm:spPr/>
      <dgm:t>
        <a:bodyPr/>
        <a:p>
          <a:endParaRPr lang="en-US"/>
        </a:p>
      </dgm:t>
    </dgm:pt>
    <dgm:pt modelId="{70256AFC-FE01-4AA7-A74E-EB7D27F60DE2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Optimise and Improve Accuracy of Predictive model.</a:t>
          </a:r>
          <a:r>
            <a:rPr lang="en-US"/>
            <a:t/>
          </a:r>
          <a:endParaRPr lang="en-US"/>
        </a:p>
      </dgm:t>
    </dgm:pt>
    <dgm:pt modelId="{574C85AE-1137-4A98-815B-0F952EBB1DE5}" cxnId="{CFB1665F-60D6-41A7-97AE-962B7FA6D5D7}" type="parTrans">
      <dgm:prSet/>
      <dgm:spPr/>
    </dgm:pt>
    <dgm:pt modelId="{F1583C99-51A0-4DD8-B3AF-604B70FEF6BB}" cxnId="{CFB1665F-60D6-41A7-97AE-962B7FA6D5D7}" type="sibTrans">
      <dgm:prSet/>
      <dgm:spPr/>
    </dgm:pt>
    <dgm:pt modelId="{7A62F365-9B53-40D1-87A7-A186E7DB797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Deploy and Host the model.</a:t>
          </a:r>
          <a:r>
            <a:rPr lang="en-US"/>
            <a:t/>
          </a:r>
          <a:endParaRPr lang="en-US"/>
        </a:p>
      </dgm:t>
    </dgm:pt>
    <dgm:pt modelId="{50DF44CF-A839-4096-B397-C00210B7F79F}" cxnId="{A20152B8-ED93-4C92-81C7-4CE2903683DA}" type="parTrans">
      <dgm:prSet/>
      <dgm:spPr/>
    </dgm:pt>
    <dgm:pt modelId="{566574A2-7990-4272-A56A-C7586851A009}" cxnId="{A20152B8-ED93-4C92-81C7-4CE2903683DA}" type="sibTrans">
      <dgm:prSet/>
      <dgm:spPr/>
    </dgm:pt>
    <dgm:pt modelId="{96506F92-A54B-4AB3-BA18-25108C414148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We can focus on quality of ramp according to the venue location.</a:t>
          </a:r>
          <a:r>
            <a:rPr lang="en-US"/>
            <a:t/>
          </a:r>
          <a:endParaRPr lang="en-US"/>
        </a:p>
      </dgm:t>
    </dgm:pt>
    <dgm:pt modelId="{A982B22D-A139-4A46-8423-918B398F1401}" cxnId="{7C1995C5-4937-450C-B436-E803956E3B2A}" type="parTrans">
      <dgm:prSet/>
      <dgm:spPr/>
    </dgm:pt>
    <dgm:pt modelId="{14B8333C-12A7-4BAE-B3ED-17D9AC039A32}" cxnId="{7C1995C5-4937-450C-B436-E803956E3B2A}" type="sibTrans">
      <dgm:prSet/>
      <dgm:spPr/>
    </dgm:pt>
    <dgm:pt modelId="{9709B451-C7AD-4AA1-B787-ACA97BD1867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In case of continous analysis , I suggest to focus on more characterstics such as date od event, vanue area, </a:t>
          </a:r>
          <a:r>
            <a:rPr lang="en-US"/>
            <a:t>maximun wheelchair people.</a:t>
          </a:r>
          <a:endParaRPr lang="en-US"/>
        </a:p>
      </dgm:t>
    </dgm:pt>
    <dgm:pt modelId="{09FBC5F0-2368-40D9-B195-FCD6B75B3AFF}" cxnId="{1A95EA12-A59F-46F4-8B6B-47710D033768}" type="parTrans">
      <dgm:prSet/>
      <dgm:spPr/>
    </dgm:pt>
    <dgm:pt modelId="{0C68F629-87E7-4244-B9FB-8CC7000A1545}" cxnId="{1A95EA12-A59F-46F4-8B6B-47710D033768}" type="sibTrans">
      <dgm:prSet/>
      <dgm:spPr/>
    </dgm:pt>
    <dgm:pt modelId="{E5EECCA3-F875-4B71-92CC-9CCDFB7DBFEF}" type="pres">
      <dgm:prSet presAssocID="{26C320EB-5352-40AA-A0A9-C13066E1373C}" presName="linear" presStyleCnt="0">
        <dgm:presLayoutVars>
          <dgm:dir/>
          <dgm:animLvl val="lvl"/>
          <dgm:resizeHandles val="exact"/>
        </dgm:presLayoutVars>
      </dgm:prSet>
      <dgm:spPr/>
    </dgm:pt>
    <dgm:pt modelId="{667CAF5C-37C0-43B7-8B7E-02CCA3754DB9}" type="pres">
      <dgm:prSet presAssocID="{773C5012-55F9-436E-B78B-2A38D8AAA0C0}" presName="parentLin" presStyleCnt="0"/>
      <dgm:spPr/>
    </dgm:pt>
    <dgm:pt modelId="{58B158CB-C1D2-4676-88E6-6B3937A00A96}" type="pres">
      <dgm:prSet presAssocID="{773C5012-55F9-436E-B78B-2A38D8AAA0C0}" presName="parentLeftMargin" presStyleCnt="0"/>
      <dgm:spPr/>
    </dgm:pt>
    <dgm:pt modelId="{D0971512-D8E1-4E4B-89F4-FF2EB164C196}" type="pres">
      <dgm:prSet presAssocID="{773C5012-55F9-436E-B78B-2A38D8AAA0C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5E10EBB-C85A-471E-9935-B48B9C39A12E}" type="pres">
      <dgm:prSet presAssocID="{773C5012-55F9-436E-B78B-2A38D8AAA0C0}" presName="negativeSpace" presStyleCnt="0"/>
      <dgm:spPr/>
    </dgm:pt>
    <dgm:pt modelId="{1F055725-8984-42CB-98CB-8E7728DD5EAB}" type="pres">
      <dgm:prSet presAssocID="{773C5012-55F9-436E-B78B-2A38D8AAA0C0}" presName="childText" presStyleLbl="conFgAcc1" presStyleIdx="0" presStyleCnt="2">
        <dgm:presLayoutVars>
          <dgm:bulletEnabled val="1"/>
        </dgm:presLayoutVars>
      </dgm:prSet>
      <dgm:spPr/>
    </dgm:pt>
    <dgm:pt modelId="{5785404B-F53E-4CF2-A702-90A46E89CED8}" type="pres">
      <dgm:prSet presAssocID="{507A6FE3-4D55-4ED6-A973-429D64C5DF28}" presName="spaceBetweenRectangles" presStyleCnt="0"/>
      <dgm:spPr/>
    </dgm:pt>
    <dgm:pt modelId="{EF963990-07B7-4DBC-8CFE-C86D15B61BB6}" type="pres">
      <dgm:prSet presAssocID="{CA58FE74-4619-4E47-BA6C-E0CD35AF5AC2}" presName="parentLin" presStyleCnt="0"/>
      <dgm:spPr/>
    </dgm:pt>
    <dgm:pt modelId="{AEA4B341-6C57-43B8-BC42-9813D43D1335}" type="pres">
      <dgm:prSet presAssocID="{CA58FE74-4619-4E47-BA6C-E0CD35AF5AC2}" presName="parentLeftMargin" presStyleCnt="0"/>
      <dgm:spPr/>
    </dgm:pt>
    <dgm:pt modelId="{DD07B078-3354-4F1B-9438-E4F95C4B43A6}" type="pres">
      <dgm:prSet presAssocID="{CA58FE74-4619-4E47-BA6C-E0CD35AF5AC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8F9047E-C8BE-4990-B6F7-84F4581E1FEA}" type="pres">
      <dgm:prSet presAssocID="{CA58FE74-4619-4E47-BA6C-E0CD35AF5AC2}" presName="negativeSpace" presStyleCnt="0"/>
      <dgm:spPr/>
    </dgm:pt>
    <dgm:pt modelId="{FB20FF5F-D131-4A8A-AEBC-01A2B84D6655}" type="pres">
      <dgm:prSet presAssocID="{CA58FE74-4619-4E47-BA6C-E0CD35AF5AC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F7F756B-684B-4FBF-97C7-A9C2CFB2A1F9}" srcId="{26C320EB-5352-40AA-A0A9-C13066E1373C}" destId="{773C5012-55F9-436E-B78B-2A38D8AAA0C0}" srcOrd="0" destOrd="0" parTransId="{E1399106-9BE2-43F4-9430-F473CB36780F}" sibTransId="{507A6FE3-4D55-4ED6-A973-429D64C5DF28}"/>
    <dgm:cxn modelId="{3B58F019-BA4B-4792-A0B9-4BF263FC2540}" srcId="{773C5012-55F9-436E-B78B-2A38D8AAA0C0}" destId="{90570EAD-4D4E-4BB2-A767-B943D2E4A453}" srcOrd="0" destOrd="0" parTransId="{E93F2EFF-A124-46E9-B969-18A0113D6504}" sibTransId="{707F1FAB-053A-4B60-89D6-2DC452CC0C65}"/>
    <dgm:cxn modelId="{09D06CBE-59D8-4E5B-A5D0-CA0DFB28677B}" srcId="{773C5012-55F9-436E-B78B-2A38D8AAA0C0}" destId="{830390C9-036C-4EB0-80AE-198F03667E02}" srcOrd="1" destOrd="0" parTransId="{AF0571A6-EA2B-4229-991E-8BB0BE94A699}" sibTransId="{0E46ADF8-E570-49A0-A622-2A87144CF91F}"/>
    <dgm:cxn modelId="{06DD2400-4C4A-4B08-BCDC-1D79D65C4F75}" srcId="{773C5012-55F9-436E-B78B-2A38D8AAA0C0}" destId="{A19C850E-E8D3-4A57-B20D-AB9EF6CF89FA}" srcOrd="2" destOrd="0" parTransId="{D32EE8F5-9EDE-4F11-88C8-AC4489A0BF02}" sibTransId="{1F38ED43-8A73-48FD-80C7-58B1A4FD59E0}"/>
    <dgm:cxn modelId="{406D170E-ACCA-4FA4-A68B-E6793B9DCDEB}" srcId="{26C320EB-5352-40AA-A0A9-C13066E1373C}" destId="{CA58FE74-4619-4E47-BA6C-E0CD35AF5AC2}" srcOrd="1" destOrd="0" parTransId="{EBAD4DA7-135F-4F4E-9475-804E7DC205D2}" sibTransId="{5723A07A-E737-45B0-B84E-97FB4DE86580}"/>
    <dgm:cxn modelId="{CFB1665F-60D6-41A7-97AE-962B7FA6D5D7}" srcId="{CA58FE74-4619-4E47-BA6C-E0CD35AF5AC2}" destId="{70256AFC-FE01-4AA7-A74E-EB7D27F60DE2}" srcOrd="0" destOrd="1" parTransId="{574C85AE-1137-4A98-815B-0F952EBB1DE5}" sibTransId="{F1583C99-51A0-4DD8-B3AF-604B70FEF6BB}"/>
    <dgm:cxn modelId="{A20152B8-ED93-4C92-81C7-4CE2903683DA}" srcId="{CA58FE74-4619-4E47-BA6C-E0CD35AF5AC2}" destId="{7A62F365-9B53-40D1-87A7-A186E7DB797C}" srcOrd="1" destOrd="1" parTransId="{50DF44CF-A839-4096-B397-C00210B7F79F}" sibTransId="{566574A2-7990-4272-A56A-C7586851A009}"/>
    <dgm:cxn modelId="{7C1995C5-4937-450C-B436-E803956E3B2A}" srcId="{CA58FE74-4619-4E47-BA6C-E0CD35AF5AC2}" destId="{96506F92-A54B-4AB3-BA18-25108C414148}" srcOrd="2" destOrd="1" parTransId="{A982B22D-A139-4A46-8423-918B398F1401}" sibTransId="{14B8333C-12A7-4BAE-B3ED-17D9AC039A32}"/>
    <dgm:cxn modelId="{1A95EA12-A59F-46F4-8B6B-47710D033768}" srcId="{CA58FE74-4619-4E47-BA6C-E0CD35AF5AC2}" destId="{9709B451-C7AD-4AA1-B787-ACA97BD1867A}" srcOrd="3" destOrd="1" parTransId="{09FBC5F0-2368-40D9-B195-FCD6B75B3AFF}" sibTransId="{0C68F629-87E7-4244-B9FB-8CC7000A1545}"/>
    <dgm:cxn modelId="{EBC2F3DE-7FD4-483B-AB70-7C942E1DD4C5}" type="presOf" srcId="{26C320EB-5352-40AA-A0A9-C13066E1373C}" destId="{E5EECCA3-F875-4B71-92CC-9CCDFB7DBFEF}" srcOrd="0" destOrd="0" presId="urn:microsoft.com/office/officeart/2005/8/layout/list1"/>
    <dgm:cxn modelId="{D03A2667-F1F4-4FE2-95D1-CF2A99D56640}" type="presParOf" srcId="{E5EECCA3-F875-4B71-92CC-9CCDFB7DBFEF}" destId="{667CAF5C-37C0-43B7-8B7E-02CCA3754DB9}" srcOrd="0" destOrd="0" presId="urn:microsoft.com/office/officeart/2005/8/layout/list1"/>
    <dgm:cxn modelId="{F4F43370-8683-4A56-AFF5-2E6B7D0DEB1A}" type="presParOf" srcId="{667CAF5C-37C0-43B7-8B7E-02CCA3754DB9}" destId="{58B158CB-C1D2-4676-88E6-6B3937A00A96}" srcOrd="0" destOrd="0" presId="urn:microsoft.com/office/officeart/2005/8/layout/list1"/>
    <dgm:cxn modelId="{E289E9EB-60F3-4634-A881-326B0D16ADBB}" type="presOf" srcId="{773C5012-55F9-436E-B78B-2A38D8AAA0C0}" destId="{58B158CB-C1D2-4676-88E6-6B3937A00A96}" srcOrd="0" destOrd="0" presId="urn:microsoft.com/office/officeart/2005/8/layout/list1"/>
    <dgm:cxn modelId="{10CE77B0-BE30-4BDD-B8DC-C4B23AE04479}" type="presParOf" srcId="{667CAF5C-37C0-43B7-8B7E-02CCA3754DB9}" destId="{D0971512-D8E1-4E4B-89F4-FF2EB164C196}" srcOrd="1" destOrd="0" presId="urn:microsoft.com/office/officeart/2005/8/layout/list1"/>
    <dgm:cxn modelId="{58C7AC87-EB1A-4D5C-A967-F6F7D5BEF744}" type="presOf" srcId="{773C5012-55F9-436E-B78B-2A38D8AAA0C0}" destId="{D0971512-D8E1-4E4B-89F4-FF2EB164C196}" srcOrd="0" destOrd="0" presId="urn:microsoft.com/office/officeart/2005/8/layout/list1"/>
    <dgm:cxn modelId="{CFBD9AB5-33E0-4075-81A5-1E8ED6182633}" type="presParOf" srcId="{E5EECCA3-F875-4B71-92CC-9CCDFB7DBFEF}" destId="{05E10EBB-C85A-471E-9935-B48B9C39A12E}" srcOrd="1" destOrd="0" presId="urn:microsoft.com/office/officeart/2005/8/layout/list1"/>
    <dgm:cxn modelId="{5A84FB3A-2023-4B89-B3D1-63988591D8D9}" type="presParOf" srcId="{E5EECCA3-F875-4B71-92CC-9CCDFB7DBFEF}" destId="{1F055725-8984-42CB-98CB-8E7728DD5EAB}" srcOrd="2" destOrd="0" presId="urn:microsoft.com/office/officeart/2005/8/layout/list1"/>
    <dgm:cxn modelId="{5F7D69A7-DF9B-4B6A-B879-6254242CEBB0}" type="presOf" srcId="{90570EAD-4D4E-4BB2-A767-B943D2E4A453}" destId="{1F055725-8984-42CB-98CB-8E7728DD5EAB}" srcOrd="0" destOrd="0" presId="urn:microsoft.com/office/officeart/2005/8/layout/list1"/>
    <dgm:cxn modelId="{0550D378-9541-4D45-8DC6-4C31CB3318EE}" type="presOf" srcId="{830390C9-036C-4EB0-80AE-198F03667E02}" destId="{1F055725-8984-42CB-98CB-8E7728DD5EAB}" srcOrd="0" destOrd="1" presId="urn:microsoft.com/office/officeart/2005/8/layout/list1"/>
    <dgm:cxn modelId="{CA3BCA53-D320-4180-9F7B-439498869C88}" type="presOf" srcId="{A19C850E-E8D3-4A57-B20D-AB9EF6CF89FA}" destId="{1F055725-8984-42CB-98CB-8E7728DD5EAB}" srcOrd="0" destOrd="2" presId="urn:microsoft.com/office/officeart/2005/8/layout/list1"/>
    <dgm:cxn modelId="{9EC4B847-1C21-48ED-9DAC-1992B9591F6F}" type="presParOf" srcId="{E5EECCA3-F875-4B71-92CC-9CCDFB7DBFEF}" destId="{5785404B-F53E-4CF2-A702-90A46E89CED8}" srcOrd="3" destOrd="0" presId="urn:microsoft.com/office/officeart/2005/8/layout/list1"/>
    <dgm:cxn modelId="{54AC794C-497E-46D7-975B-2494BA412997}" type="presParOf" srcId="{E5EECCA3-F875-4B71-92CC-9CCDFB7DBFEF}" destId="{EF963990-07B7-4DBC-8CFE-C86D15B61BB6}" srcOrd="4" destOrd="0" presId="urn:microsoft.com/office/officeart/2005/8/layout/list1"/>
    <dgm:cxn modelId="{BF8B7E39-0722-4CF1-A392-3FA6822966B2}" type="presParOf" srcId="{EF963990-07B7-4DBC-8CFE-C86D15B61BB6}" destId="{AEA4B341-6C57-43B8-BC42-9813D43D1335}" srcOrd="0" destOrd="4" presId="urn:microsoft.com/office/officeart/2005/8/layout/list1"/>
    <dgm:cxn modelId="{C0A83C5E-C0A0-4842-AA11-DFE081AA9815}" type="presOf" srcId="{CA58FE74-4619-4E47-BA6C-E0CD35AF5AC2}" destId="{AEA4B341-6C57-43B8-BC42-9813D43D1335}" srcOrd="0" destOrd="0" presId="urn:microsoft.com/office/officeart/2005/8/layout/list1"/>
    <dgm:cxn modelId="{473E7FEB-A250-4EFD-A0B0-E30157B2BFF1}" type="presParOf" srcId="{EF963990-07B7-4DBC-8CFE-C86D15B61BB6}" destId="{DD07B078-3354-4F1B-9438-E4F95C4B43A6}" srcOrd="1" destOrd="4" presId="urn:microsoft.com/office/officeart/2005/8/layout/list1"/>
    <dgm:cxn modelId="{A00292CE-2AB6-4650-86F7-B212ACC4B470}" type="presOf" srcId="{CA58FE74-4619-4E47-BA6C-E0CD35AF5AC2}" destId="{DD07B078-3354-4F1B-9438-E4F95C4B43A6}" srcOrd="0" destOrd="0" presId="urn:microsoft.com/office/officeart/2005/8/layout/list1"/>
    <dgm:cxn modelId="{78E3B2E9-F1F1-4D6E-9E09-07EDC3FE3861}" type="presParOf" srcId="{E5EECCA3-F875-4B71-92CC-9CCDFB7DBFEF}" destId="{98F9047E-C8BE-4990-B6F7-84F4581E1FEA}" srcOrd="5" destOrd="0" presId="urn:microsoft.com/office/officeart/2005/8/layout/list1"/>
    <dgm:cxn modelId="{AB6F5FBD-0D87-4720-A17A-821FBA85D9D0}" type="presParOf" srcId="{E5EECCA3-F875-4B71-92CC-9CCDFB7DBFEF}" destId="{FB20FF5F-D131-4A8A-AEBC-01A2B84D6655}" srcOrd="6" destOrd="0" presId="urn:microsoft.com/office/officeart/2005/8/layout/list1"/>
    <dgm:cxn modelId="{D133301A-D7E1-4E08-BABF-13673B690EF8}" type="presOf" srcId="{70256AFC-FE01-4AA7-A74E-EB7D27F60DE2}" destId="{FB20FF5F-D131-4A8A-AEBC-01A2B84D6655}" srcOrd="0" destOrd="0" presId="urn:microsoft.com/office/officeart/2005/8/layout/list1"/>
    <dgm:cxn modelId="{9D67ACDC-AA59-4457-9DD4-0714277F25ED}" type="presOf" srcId="{7A62F365-9B53-40D1-87A7-A186E7DB797C}" destId="{FB20FF5F-D131-4A8A-AEBC-01A2B84D6655}" srcOrd="0" destOrd="1" presId="urn:microsoft.com/office/officeart/2005/8/layout/list1"/>
    <dgm:cxn modelId="{871BA6A0-1C16-4343-8CF3-B0241F7DF662}" type="presOf" srcId="{96506F92-A54B-4AB3-BA18-25108C414148}" destId="{FB20FF5F-D131-4A8A-AEBC-01A2B84D6655}" srcOrd="0" destOrd="2" presId="urn:microsoft.com/office/officeart/2005/8/layout/list1"/>
    <dgm:cxn modelId="{00DC8B86-EBD7-47FC-A2C6-7F08F1FB88C5}" type="presOf" srcId="{9709B451-C7AD-4AA1-B787-ACA97BD1867A}" destId="{FB20FF5F-D131-4A8A-AEBC-01A2B84D6655}" srcOrd="0" destOrd="3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9255760" cy="4079875"/>
        <a:chOff x="0" y="0"/>
        <a:chExt cx="9255760" cy="4079875"/>
      </a:xfrm>
    </dsp:grpSpPr>
    <dsp:sp modelId="{E8FA1AD1-E924-4777-9518-0FB441108432}">
      <dsp:nvSpPr>
        <dsp:cNvPr id="5" name="Rectangles 4"/>
        <dsp:cNvSpPr/>
      </dsp:nvSpPr>
      <dsp:spPr bwMode="white">
        <a:xfrm>
          <a:off x="0" y="507500"/>
          <a:ext cx="9255760" cy="1454785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718349" tIns="395731" rIns="718349" bIns="135128" anchor="t"/>
        <a:lstStyle>
          <a:lvl1pPr algn="l">
            <a:defRPr sz="19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Whether Event Venue already has a wheelchair ramp installed?</a:t>
          </a:r>
          <a:endParaRPr lang="en-US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Study and Find at least two-thirds of venues predicted to be without a ramp should not have a ramp.</a:t>
          </a:r>
          <a:endParaRPr lang="en-US">
            <a:solidFill>
              <a:schemeClr val="dk1"/>
            </a:solidFill>
          </a:endParaRPr>
        </a:p>
      </dsp:txBody>
      <dsp:txXfrm>
        <a:off x="0" y="507500"/>
        <a:ext cx="9255760" cy="1454785"/>
      </dsp:txXfrm>
    </dsp:sp>
    <dsp:sp modelId="{6FF917E3-4418-494A-AB98-E680263E62B6}">
      <dsp:nvSpPr>
        <dsp:cNvPr id="4" name="Rounded Rectangle 3"/>
        <dsp:cNvSpPr/>
      </dsp:nvSpPr>
      <dsp:spPr bwMode="white">
        <a:xfrm>
          <a:off x="462788" y="227060"/>
          <a:ext cx="6479032" cy="56088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44891" tIns="0" rIns="244891" bIns="0" anchor="ctr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Business Problem</a:t>
          </a:r>
          <a:endParaRPr lang="en-US"/>
        </a:p>
      </dsp:txBody>
      <dsp:txXfrm>
        <a:off x="462788" y="227060"/>
        <a:ext cx="6479032" cy="560880"/>
      </dsp:txXfrm>
    </dsp:sp>
    <dsp:sp modelId="{31B8EB0D-316A-425F-BFA6-6F33D5E93912}">
      <dsp:nvSpPr>
        <dsp:cNvPr id="8" name="Rectangles 7"/>
        <dsp:cNvSpPr/>
      </dsp:nvSpPr>
      <dsp:spPr bwMode="white">
        <a:xfrm>
          <a:off x="0" y="2345325"/>
          <a:ext cx="9255760" cy="150749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718349" tIns="395731" rIns="718349" bIns="135128" anchor="t"/>
        <a:lstStyle>
          <a:lvl1pPr algn="l">
            <a:defRPr sz="19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Analyse the relationship within data and important characterstics for result.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Build to predict whether an event venue has a wheelchair ramp.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Assess the prediction of the Venues’s characterstics.</a:t>
          </a:r>
          <a:endParaRPr lang="en-US">
            <a:solidFill>
              <a:schemeClr val="dk1"/>
            </a:solidFill>
          </a:endParaRPr>
        </a:p>
      </dsp:txBody>
      <dsp:txXfrm>
        <a:off x="0" y="2345325"/>
        <a:ext cx="9255760" cy="1507490"/>
      </dsp:txXfrm>
    </dsp:sp>
    <dsp:sp modelId="{82AD062D-2D89-4BBE-AC99-C37C38F881A9}">
      <dsp:nvSpPr>
        <dsp:cNvPr id="7" name="Rounded Rectangle 6"/>
        <dsp:cNvSpPr/>
      </dsp:nvSpPr>
      <dsp:spPr bwMode="white">
        <a:xfrm>
          <a:off x="462788" y="2064885"/>
          <a:ext cx="6479032" cy="56088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44891" tIns="0" rIns="244891" bIns="0" anchor="ctr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Work Plan</a:t>
          </a:r>
        </a:p>
      </dsp:txBody>
      <dsp:txXfrm>
        <a:off x="462788" y="2064885"/>
        <a:ext cx="6479032" cy="560880"/>
      </dsp:txXfrm>
    </dsp:sp>
    <dsp:sp modelId="{64C362FF-EFDF-4B7E-A850-0D2CF80FE8EE}">
      <dsp:nvSpPr>
        <dsp:cNvPr id="3" name="Rectangles 2" hidden="1"/>
        <dsp:cNvSpPr/>
      </dsp:nvSpPr>
      <dsp:spPr>
        <a:xfrm>
          <a:off x="0" y="227060"/>
          <a:ext cx="462788" cy="560880"/>
        </a:xfrm>
        <a:prstGeom prst="rect">
          <a:avLst/>
        </a:prstGeom>
      </dsp:spPr>
      <dsp:txXfrm>
        <a:off x="0" y="227060"/>
        <a:ext cx="462788" cy="560880"/>
      </dsp:txXfrm>
    </dsp:sp>
    <dsp:sp modelId="{FDD9DC2D-6E05-410D-9AF7-9C86CE1C3518}">
      <dsp:nvSpPr>
        <dsp:cNvPr id="6" name="Rectangles 5" hidden="1"/>
        <dsp:cNvSpPr/>
      </dsp:nvSpPr>
      <dsp:spPr>
        <a:xfrm>
          <a:off x="0" y="2064885"/>
          <a:ext cx="462788" cy="560880"/>
        </a:xfrm>
        <a:prstGeom prst="rect">
          <a:avLst/>
        </a:prstGeom>
      </dsp:spPr>
      <dsp:txXfrm>
        <a:off x="0" y="2064885"/>
        <a:ext cx="462788" cy="560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9841865" cy="4201795"/>
        <a:chOff x="0" y="0"/>
        <a:chExt cx="9841865" cy="4201795"/>
      </a:xfrm>
    </dsp:grpSpPr>
    <dsp:sp modelId="{1F055725-8984-42CB-98CB-8E7728DD5EAB}">
      <dsp:nvSpPr>
        <dsp:cNvPr id="5" name="Rectangles 4"/>
        <dsp:cNvSpPr/>
      </dsp:nvSpPr>
      <dsp:spPr bwMode="white">
        <a:xfrm>
          <a:off x="0" y="294142"/>
          <a:ext cx="9841865" cy="160782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763838" tIns="354076" rIns="763838" bIns="120904" anchor="t"/>
        <a:lstStyle>
          <a:lvl1pPr algn="l">
            <a:defRPr sz="17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  <a:sym typeface="+mn-ea"/>
            </a:rPr>
            <a:t>Explored the characterstics of venues that impact the predictive model.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Built a predictive model to know </a:t>
          </a:r>
          <a:r>
            <a:rPr lang="en-US">
              <a:solidFill>
                <a:schemeClr val="dk1"/>
              </a:solidFill>
              <a:sym typeface="+mn-ea"/>
            </a:rPr>
            <a:t>whether an event venue has a wheelchair ramp.</a:t>
          </a:r>
          <a:endParaRPr lang="en-US">
            <a:solidFill>
              <a:schemeClr val="dk1"/>
            </a:solidFill>
            <a:sym typeface="+mn-ea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Found that </a:t>
          </a:r>
          <a:r>
            <a:rPr lang="en-US">
              <a:solidFill>
                <a:schemeClr val="dk1"/>
              </a:solidFill>
            </a:rPr>
            <a:t>at least two-thirds of venues predicted to be without a ramp should not have a ramp.</a:t>
          </a:r>
          <a:endParaRPr lang="en-US">
            <a:solidFill>
              <a:schemeClr val="dk1"/>
            </a:solidFill>
          </a:endParaRPr>
        </a:p>
      </dsp:txBody>
      <dsp:txXfrm>
        <a:off x="0" y="294142"/>
        <a:ext cx="9841865" cy="1607820"/>
      </dsp:txXfrm>
    </dsp:sp>
    <dsp:sp modelId="{D0971512-D8E1-4E4B-89F4-FF2EB164C196}">
      <dsp:nvSpPr>
        <dsp:cNvPr id="4" name="Rounded Rectangle 3"/>
        <dsp:cNvSpPr/>
      </dsp:nvSpPr>
      <dsp:spPr bwMode="white">
        <a:xfrm>
          <a:off x="492093" y="43222"/>
          <a:ext cx="6889306" cy="50184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0399" tIns="0" rIns="260399" bIns="0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Work Impact</a:t>
          </a:r>
          <a:endParaRPr lang="en-US"/>
        </a:p>
      </dsp:txBody>
      <dsp:txXfrm>
        <a:off x="492093" y="43222"/>
        <a:ext cx="6889306" cy="501840"/>
      </dsp:txXfrm>
    </dsp:sp>
    <dsp:sp modelId="{FB20FF5F-D131-4A8A-AEBC-01A2B84D6655}">
      <dsp:nvSpPr>
        <dsp:cNvPr id="8" name="Rectangles 7"/>
        <dsp:cNvSpPr/>
      </dsp:nvSpPr>
      <dsp:spPr bwMode="white">
        <a:xfrm>
          <a:off x="0" y="2244683"/>
          <a:ext cx="9841865" cy="191389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763838" tIns="354076" rIns="763838" bIns="120904" anchor="t"/>
        <a:lstStyle>
          <a:lvl1pPr algn="l">
            <a:defRPr sz="17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Optimise and Improve Accuracy of Predictive model.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Deploy and Host the model.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We can focus on quality of ramp according to the venue location.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In case of continous analysis , I suggest to focus on more characterstics such as date od event, vanue area, </a:t>
          </a:r>
          <a:r>
            <a:rPr lang="en-US">
              <a:solidFill>
                <a:schemeClr val="dk1"/>
              </a:solidFill>
            </a:rPr>
            <a:t>maximun wheelchair people.</a:t>
          </a:r>
          <a:endParaRPr lang="en-US">
            <a:solidFill>
              <a:schemeClr val="dk1"/>
            </a:solidFill>
          </a:endParaRPr>
        </a:p>
      </dsp:txBody>
      <dsp:txXfrm>
        <a:off x="0" y="2244683"/>
        <a:ext cx="9841865" cy="1913890"/>
      </dsp:txXfrm>
    </dsp:sp>
    <dsp:sp modelId="{DD07B078-3354-4F1B-9438-E4F95C4B43A6}">
      <dsp:nvSpPr>
        <dsp:cNvPr id="7" name="Rounded Rectangle 6"/>
        <dsp:cNvSpPr/>
      </dsp:nvSpPr>
      <dsp:spPr bwMode="white">
        <a:xfrm>
          <a:off x="492093" y="1993763"/>
          <a:ext cx="6889306" cy="50184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60399" tIns="0" rIns="260399" bIns="0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Recommendations</a:t>
          </a:r>
          <a:endParaRPr lang="en-US"/>
        </a:p>
      </dsp:txBody>
      <dsp:txXfrm>
        <a:off x="492093" y="1993763"/>
        <a:ext cx="6889306" cy="501840"/>
      </dsp:txXfrm>
    </dsp:sp>
    <dsp:sp modelId="{58B158CB-C1D2-4676-88E6-6B3937A00A96}">
      <dsp:nvSpPr>
        <dsp:cNvPr id="3" name="Rectangles 2" hidden="1"/>
        <dsp:cNvSpPr/>
      </dsp:nvSpPr>
      <dsp:spPr>
        <a:xfrm>
          <a:off x="0" y="43222"/>
          <a:ext cx="492093" cy="501840"/>
        </a:xfrm>
        <a:prstGeom prst="rect">
          <a:avLst/>
        </a:prstGeom>
      </dsp:spPr>
      <dsp:txXfrm>
        <a:off x="0" y="43222"/>
        <a:ext cx="492093" cy="501840"/>
      </dsp:txXfrm>
    </dsp:sp>
    <dsp:sp modelId="{AEA4B341-6C57-43B8-BC42-9813D43D1335}">
      <dsp:nvSpPr>
        <dsp:cNvPr id="6" name="Rectangles 5" hidden="1"/>
        <dsp:cNvSpPr/>
      </dsp:nvSpPr>
      <dsp:spPr>
        <a:xfrm>
          <a:off x="0" y="1993763"/>
          <a:ext cx="492093" cy="501840"/>
        </a:xfrm>
        <a:prstGeom prst="rect">
          <a:avLst/>
        </a:prstGeom>
      </dsp:spPr>
      <dsp:txXfrm>
        <a:off x="0" y="1993763"/>
        <a:ext cx="492093" cy="501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56908" y="1832610"/>
            <a:ext cx="10878820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5400">
                <a:solidFill>
                  <a:schemeClr val="bg1"/>
                </a:solidFill>
                <a:latin typeface="+mj-lt"/>
                <a:cs typeface="+mj-lt"/>
              </a:rPr>
              <a:t>Analysis And Prediction Of </a:t>
            </a:r>
            <a:endParaRPr lang="en-US" sz="5400">
              <a:solidFill>
                <a:schemeClr val="bg1"/>
              </a:solidFill>
              <a:latin typeface="+mj-lt"/>
              <a:cs typeface="+mj-lt"/>
            </a:endParaRPr>
          </a:p>
          <a:p>
            <a:pPr algn="ctr"/>
            <a:r>
              <a:rPr lang="en-US" sz="5400">
                <a:solidFill>
                  <a:schemeClr val="bg1"/>
                </a:solidFill>
                <a:latin typeface="+mj-lt"/>
                <a:cs typeface="+mj-lt"/>
              </a:rPr>
              <a:t>Wheather An Event Venue Has A Ramp</a:t>
            </a:r>
            <a:endParaRPr lang="en-US" sz="5400">
              <a:solidFill>
                <a:schemeClr val="bg1"/>
              </a:solidFill>
              <a:latin typeface="+mj-lt"/>
              <a:cs typeface="+mj-lt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605848" y="3717290"/>
            <a:ext cx="497903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>
              <a:lnSpc>
                <a:spcPct val="100000"/>
              </a:lnSpc>
            </a:pPr>
            <a:r>
              <a:rPr lang="en-US" sz="2400">
                <a:solidFill>
                  <a:schemeClr val="bg1"/>
                </a:solidFill>
              </a:rPr>
              <a:t>Presented By: Gautam Kumar Jaiswal</a:t>
            </a:r>
            <a:endParaRPr lang="en-US" sz="2400">
              <a:solidFill>
                <a:schemeClr val="bg1"/>
              </a:solidFill>
            </a:endParaRPr>
          </a:p>
          <a:p>
            <a:pPr algn="ctr">
              <a:lnSpc>
                <a:spcPct val="200000"/>
              </a:lnSpc>
            </a:pPr>
            <a:r>
              <a:rPr lang="en-US" sz="2400">
                <a:solidFill>
                  <a:schemeClr val="bg1"/>
                </a:solidFill>
              </a:rPr>
              <a:t>Presented To:  The Marketing Manager</a:t>
            </a:r>
            <a:endParaRPr 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397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753225" y="4276090"/>
            <a:ext cx="1267460" cy="127762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979170" y="4276090"/>
            <a:ext cx="1268095" cy="127762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753225" y="1519555"/>
            <a:ext cx="1267460" cy="127762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979170" y="1519555"/>
            <a:ext cx="1268095" cy="12776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2" name="Content Placeholder 1" descr="2149109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7016750" y="4554855"/>
            <a:ext cx="741045" cy="741045"/>
          </a:xfrm>
          <a:prstGeom prst="rect">
            <a:avLst/>
          </a:prstGeom>
        </p:spPr>
      </p:pic>
      <p:pic>
        <p:nvPicPr>
          <p:cNvPr id="7" name="Picture 6" descr="creativit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265" y="1776730"/>
            <a:ext cx="763905" cy="763905"/>
          </a:xfrm>
          <a:prstGeom prst="rect">
            <a:avLst/>
          </a:prstGeom>
        </p:spPr>
      </p:pic>
      <p:pic>
        <p:nvPicPr>
          <p:cNvPr id="4" name="Content Placeholder 3" descr="2103639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231265" y="4538980"/>
            <a:ext cx="751840" cy="751840"/>
          </a:xfrm>
          <a:prstGeom prst="rect">
            <a:avLst/>
          </a:prstGeom>
        </p:spPr>
      </p:pic>
      <p:pic>
        <p:nvPicPr>
          <p:cNvPr id="6" name="Picture 5" descr="41769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1771650"/>
            <a:ext cx="768985" cy="768985"/>
          </a:xfrm>
          <a:prstGeom prst="rect">
            <a:avLst/>
          </a:prstGeom>
        </p:spPr>
      </p:pic>
      <p:sp>
        <p:nvSpPr>
          <p:cNvPr id="18" name="Text Box 17"/>
          <p:cNvSpPr txBox="1"/>
          <p:nvPr/>
        </p:nvSpPr>
        <p:spPr>
          <a:xfrm>
            <a:off x="2459990" y="1866900"/>
            <a:ext cx="337756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/>
              <a:t>1. Work Motivation</a:t>
            </a:r>
            <a:endParaRPr lang="en-US" sz="3200"/>
          </a:p>
        </p:txBody>
      </p:sp>
      <p:sp>
        <p:nvSpPr>
          <p:cNvPr id="19" name="Text Box 18"/>
          <p:cNvSpPr txBox="1"/>
          <p:nvPr/>
        </p:nvSpPr>
        <p:spPr>
          <a:xfrm>
            <a:off x="2392680" y="4376420"/>
            <a:ext cx="3710305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/>
              <a:t>3. Predictive Model’s </a:t>
            </a:r>
            <a:endParaRPr lang="en-US" sz="3200"/>
          </a:p>
          <a:p>
            <a:r>
              <a:rPr lang="en-US" sz="3200"/>
              <a:t>Findings</a:t>
            </a:r>
            <a:endParaRPr lang="en-US" sz="3200"/>
          </a:p>
        </p:txBody>
      </p:sp>
      <p:sp>
        <p:nvSpPr>
          <p:cNvPr id="20" name="Text Box 19"/>
          <p:cNvSpPr txBox="1"/>
          <p:nvPr/>
        </p:nvSpPr>
        <p:spPr>
          <a:xfrm>
            <a:off x="8286115" y="1617980"/>
            <a:ext cx="3428365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/>
              <a:t>2. Exploratory Data </a:t>
            </a:r>
            <a:endParaRPr lang="en-US" sz="3200"/>
          </a:p>
          <a:p>
            <a:r>
              <a:rPr lang="en-US" sz="3200"/>
              <a:t>Analysis Findings</a:t>
            </a:r>
            <a:endParaRPr lang="en-US" sz="3200"/>
          </a:p>
        </p:txBody>
      </p:sp>
      <p:sp>
        <p:nvSpPr>
          <p:cNvPr id="21" name="Text Box 20"/>
          <p:cNvSpPr txBox="1"/>
          <p:nvPr/>
        </p:nvSpPr>
        <p:spPr>
          <a:xfrm>
            <a:off x="8286115" y="4140835"/>
            <a:ext cx="3265805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/>
              <a:t>4. Summary and </a:t>
            </a:r>
            <a:endParaRPr lang="en-US" sz="3200"/>
          </a:p>
          <a:p>
            <a:r>
              <a:rPr lang="en-US" sz="3200"/>
              <a:t>Next Steps </a:t>
            </a:r>
            <a:endParaRPr lang="en-US" sz="3200"/>
          </a:p>
          <a:p>
            <a:r>
              <a:rPr lang="en-US" sz="3200"/>
              <a:t>Recommendations</a:t>
            </a:r>
            <a:endParaRPr 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207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31285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8857" y="-635"/>
            <a:ext cx="4063143" cy="157641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-5078" y="-635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bg2">
                  <a:lumMod val="50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Flowchart: Process 5"/>
          <p:cNvSpPr/>
          <p:nvPr/>
        </p:nvSpPr>
        <p:spPr>
          <a:xfrm>
            <a:off x="8875395" y="0"/>
            <a:ext cx="3316605" cy="1575435"/>
          </a:xfrm>
          <a:prstGeom prst="flowChartProcess">
            <a:avLst/>
          </a:prstGeom>
          <a:gradFill>
            <a:gsLst>
              <a:gs pos="25000">
                <a:schemeClr val="tx1">
                  <a:lumMod val="95000"/>
                  <a:lumOff val="5000"/>
                </a:schemeClr>
              </a:gs>
              <a:gs pos="100000">
                <a:schemeClr val="bg2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3489960" y="373380"/>
            <a:ext cx="522287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800" b="1">
                <a:solidFill>
                  <a:schemeClr val="bg1"/>
                </a:solidFill>
                <a:latin typeface="Calibri Light" panose="020F0302020204030204" charset="0"/>
                <a:cs typeface="Calibri Light" panose="020F0302020204030204" charset="0"/>
              </a:rPr>
              <a:t>Research Motivation</a:t>
            </a:r>
            <a:endParaRPr lang="en-US" sz="4800" b="1">
              <a:solidFill>
                <a:schemeClr val="bg1"/>
              </a:solidFill>
              <a:latin typeface="Calibri Light" panose="020F0302020204030204" charset="0"/>
              <a:cs typeface="Calibri Light" panose="020F030202020403020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473835" y="2118995"/>
          <a:ext cx="9255760" cy="4079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-5078" y="-635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bg2">
                  <a:lumMod val="50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Flowchart: Process 5"/>
          <p:cNvSpPr/>
          <p:nvPr/>
        </p:nvSpPr>
        <p:spPr>
          <a:xfrm>
            <a:off x="8870315" y="-635"/>
            <a:ext cx="3316605" cy="1576070"/>
          </a:xfrm>
          <a:prstGeom prst="flowChartProcess">
            <a:avLst/>
          </a:prstGeom>
          <a:gradFill>
            <a:gsLst>
              <a:gs pos="25000">
                <a:schemeClr val="tx1">
                  <a:lumMod val="95000"/>
                  <a:lumOff val="5000"/>
                </a:schemeClr>
              </a:gs>
              <a:gs pos="100000">
                <a:schemeClr val="bg2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670685" y="326390"/>
            <a:ext cx="954659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5400" b="1">
                <a:solidFill>
                  <a:schemeClr val="bg1"/>
                </a:solidFill>
                <a:latin typeface="+mj-lt"/>
                <a:cs typeface="+mj-lt"/>
              </a:rPr>
              <a:t>Exploratory Data Analysis Findings</a:t>
            </a:r>
            <a:endParaRPr lang="en-US" sz="5400" b="1">
              <a:solidFill>
                <a:schemeClr val="bg1"/>
              </a:solidFill>
              <a:latin typeface="+mj-lt"/>
              <a:cs typeface="+mj-lt"/>
            </a:endParaRPr>
          </a:p>
        </p:txBody>
      </p:sp>
      <p:pic>
        <p:nvPicPr>
          <p:cNvPr id="21" name="Content Placeholder 20" descr="download (9)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300355" y="2209165"/>
            <a:ext cx="5331460" cy="4017645"/>
          </a:xfrm>
          <a:prstGeom prst="rect">
            <a:avLst/>
          </a:prstGeom>
        </p:spPr>
      </p:pic>
      <p:pic>
        <p:nvPicPr>
          <p:cNvPr id="25" name="Content Placeholder 17" descr="download (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720" y="2622550"/>
            <a:ext cx="6181725" cy="31730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9525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download (10)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249555" y="2087245"/>
            <a:ext cx="6730365" cy="3395980"/>
          </a:xfrm>
          <a:prstGeom prst="rect">
            <a:avLst/>
          </a:prstGeom>
        </p:spPr>
      </p:pic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51510"/>
            <a:ext cx="12192000" cy="7575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187065" y="735965"/>
            <a:ext cx="58235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3200" b="1">
                <a:solidFill>
                  <a:schemeClr val="bg1"/>
                </a:solidFill>
                <a:latin typeface="+mj-lt"/>
                <a:cs typeface="+mj-lt"/>
                <a:sym typeface="+mn-ea"/>
              </a:rPr>
              <a:t>Exploratory Data Analysis Findings</a:t>
            </a:r>
            <a:endParaRPr lang="en-US" sz="3200"/>
          </a:p>
        </p:txBody>
      </p:sp>
      <p:pic>
        <p:nvPicPr>
          <p:cNvPr id="8" name="Content Placeholder 7" descr="download (11)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97090" y="2087245"/>
            <a:ext cx="4857115" cy="36595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35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0" y="0"/>
            <a:ext cx="12192000" cy="17481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bg2">
                  <a:lumMod val="50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5400">
              <a:latin typeface="+mj-lt"/>
              <a:cs typeface="+mj-lt"/>
              <a:sym typeface="+mn-ea"/>
            </a:endParaRPr>
          </a:p>
        </p:txBody>
      </p:sp>
      <p:sp>
        <p:nvSpPr>
          <p:cNvPr id="6" name="Flowchart: Process 5"/>
          <p:cNvSpPr/>
          <p:nvPr/>
        </p:nvSpPr>
        <p:spPr>
          <a:xfrm>
            <a:off x="8875395" y="635"/>
            <a:ext cx="3316605" cy="1564640"/>
          </a:xfrm>
          <a:prstGeom prst="flowChartProcess">
            <a:avLst/>
          </a:prstGeom>
          <a:gradFill>
            <a:gsLst>
              <a:gs pos="25000">
                <a:schemeClr val="tx1">
                  <a:lumMod val="95000"/>
                  <a:lumOff val="5000"/>
                </a:schemeClr>
              </a:gs>
              <a:gs pos="100000">
                <a:schemeClr val="bg2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2263140" y="321945"/>
            <a:ext cx="767080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5400" b="1">
                <a:solidFill>
                  <a:schemeClr val="bg1"/>
                </a:solidFill>
                <a:latin typeface="+mj-lt"/>
                <a:cs typeface="+mj-lt"/>
                <a:sym typeface="+mn-ea"/>
              </a:rPr>
              <a:t>Predictive Model’s Findings</a:t>
            </a:r>
            <a:endParaRPr lang="en-US" sz="5400" b="1">
              <a:solidFill>
                <a:schemeClr val="bg1"/>
              </a:solidFill>
              <a:latin typeface="+mj-lt"/>
              <a:cs typeface="+mj-lt"/>
              <a:sym typeface="+mn-ea"/>
            </a:endParaRPr>
          </a:p>
        </p:txBody>
      </p:sp>
      <p:cxnSp>
        <p:nvCxnSpPr>
          <p:cNvPr id="37" name="Straight Connector 3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2212298" y="134576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download (12)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351155" y="2640330"/>
            <a:ext cx="5181600" cy="3449955"/>
          </a:xfrm>
          <a:prstGeom prst="rect">
            <a:avLst/>
          </a:prstGeom>
        </p:spPr>
      </p:pic>
      <p:pic>
        <p:nvPicPr>
          <p:cNvPr id="11" name="Content Placeholder 10" descr="Feature_importance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98515" y="2640330"/>
            <a:ext cx="6224270" cy="26593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1620" y="388620"/>
            <a:ext cx="6076315" cy="1021715"/>
          </a:xfrm>
        </p:spPr>
        <p:txBody>
          <a:bodyPr anchor="b">
            <a:noAutofit/>
          </a:bodyPr>
          <a:p>
            <a:pPr algn="r"/>
            <a:r>
              <a:rPr lang="en-US" sz="4000" b="1">
                <a:solidFill>
                  <a:schemeClr val="bg1"/>
                </a:solidFill>
              </a:rPr>
              <a:t>Summary and Future Work</a:t>
            </a:r>
            <a:endParaRPr lang="en-US" sz="4000" b="1">
              <a:solidFill>
                <a:schemeClr val="bg1"/>
              </a:solidFill>
            </a:endParaRPr>
          </a:p>
        </p:txBody>
      </p:sp>
      <p:cxnSp>
        <p:nvCxnSpPr>
          <p:cNvPr id="5" name="Straight Connector 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126210" y="1440584"/>
            <a:ext cx="62119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/>
          <p:cNvGraphicFramePr/>
          <p:nvPr/>
        </p:nvGraphicFramePr>
        <p:xfrm>
          <a:off x="1225550" y="1891665"/>
          <a:ext cx="9841865" cy="4201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Freeform: Shape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chemeClr val="bg2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  <p:sp>
        <p:nvSpPr>
          <p:cNvPr id="10" name="Freeform: Shap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50800" dir="5400000" sx="1000" sy="1000" algn="ctr" rotWithShape="0">
              <a:schemeClr val="bg1">
                <a:alpha val="10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3517900" y="1721485"/>
            <a:ext cx="5155565" cy="34150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5400">
                <a:latin typeface="Calibri Light" panose="020F0302020204030204" charset="0"/>
                <a:cs typeface="Calibri Light" panose="020F0302020204030204" charset="0"/>
              </a:rPr>
              <a:t>Thank You For </a:t>
            </a:r>
            <a:endParaRPr lang="en-US" sz="5400">
              <a:latin typeface="Calibri Light" panose="020F0302020204030204" charset="0"/>
              <a:cs typeface="Calibri Light" panose="020F0302020204030204" charset="0"/>
            </a:endParaRPr>
          </a:p>
          <a:p>
            <a:pPr algn="ctr"/>
            <a:r>
              <a:rPr lang="en-US" sz="5400">
                <a:latin typeface="Calibri Light" panose="020F0302020204030204" charset="0"/>
                <a:cs typeface="Calibri Light" panose="020F0302020204030204" charset="0"/>
              </a:rPr>
              <a:t>Your Attention!</a:t>
            </a:r>
            <a:endParaRPr lang="en-US" sz="5400">
              <a:latin typeface="Calibri Light" panose="020F0302020204030204" charset="0"/>
              <a:cs typeface="Calibri Light" panose="020F0302020204030204" charset="0"/>
            </a:endParaRPr>
          </a:p>
          <a:p>
            <a:pPr algn="ctr">
              <a:lnSpc>
                <a:spcPct val="200000"/>
              </a:lnSpc>
            </a:pPr>
            <a:r>
              <a:rPr lang="en-US" sz="5400">
                <a:latin typeface="Calibri Light" panose="020F0302020204030204" charset="0"/>
                <a:cs typeface="Calibri Light" panose="020F0302020204030204" charset="0"/>
              </a:rPr>
              <a:t>Have A Good Day!</a:t>
            </a:r>
            <a:endParaRPr lang="en-US" sz="5400">
              <a:latin typeface="Calibri Light" panose="020F0302020204030204" charset="0"/>
              <a:cs typeface="Calibri Light" panose="020F030202020403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</Words>
  <Application>WPS Presentation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 and Future Work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jaisw</cp:lastModifiedBy>
  <cp:revision>23</cp:revision>
  <dcterms:created xsi:type="dcterms:W3CDTF">2022-08-16T14:46:00Z</dcterms:created>
  <dcterms:modified xsi:type="dcterms:W3CDTF">2022-08-19T13:32:26Z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36DEA7CC12B5467A9AD43B76ACB77DAE</vt:lpwstr>
  </property>
  <property fmtid="{D5CDD505-2E9C-101B-9397-08002B2CF9AE}" pid="3" name="KSOProductBuildVer">
    <vt:lpwstr>1033-11.2.0.11254</vt:lpwstr>
  </property>
</Properties>
</file>